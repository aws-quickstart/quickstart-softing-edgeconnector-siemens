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4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CBC"/>
    <a:srgbClr val="1D8900"/>
    <a:srgbClr val="DF3312"/>
    <a:srgbClr val="FAFAFA"/>
    <a:srgbClr val="5A6B86"/>
    <a:srgbClr val="1E8900"/>
    <a:srgbClr val="F1623E"/>
    <a:srgbClr val="CD2264"/>
    <a:srgbClr val="D86613"/>
    <a:srgbClr val="4D2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156D1-9000-3B00-D289-1146313697C0}" v="10" dt="2020-12-08T06:28:45.144"/>
    <p1510:client id="{10502AF7-A1C0-8271-FCD7-8B9C71F0B3E7}" v="14" dt="2021-01-26T08:20:28.736"/>
    <p1510:client id="{1ABCC395-A57F-0A28-0D50-50FF2A0C9F65}" v="8" dt="2020-12-03T08:14:49.232"/>
    <p1510:client id="{4DD05AEE-C3C5-43CB-83E6-DDA1AE8AD6D6}" v="612" dt="2020-12-02T13:26:55.545"/>
    <p1510:client id="{5AE10A2C-D78B-CBF0-CE3B-7E9F2EBAABE9}" v="269" dt="2021-01-26T14:18:12.167"/>
    <p1510:client id="{963F39E9-F31E-C6B2-0DED-16761762B8CC}" v="8" dt="2021-01-26T09:18:17.481"/>
    <p1510:client id="{9D4E2F6C-6946-4253-6339-BF8ECE8A127F}" v="5" dt="2020-12-03T08:36:45.988"/>
    <p1510:client id="{B0C3C2CA-2B5D-45A7-32D0-9451536B9A4A}" v="15" dt="2021-01-28T12:42:48.100"/>
    <p1510:client id="{B87B81D8-90D5-D4AD-BB4C-FA61E9833A02}" v="11" dt="2020-12-02T14:53:58.987"/>
    <p1510:client id="{D8870D37-61E1-605F-6380-40B0D0B04EA5}" v="1" dt="2021-02-03T07:49:09.139"/>
    <p1510:client id="{F0F39E85-2748-338F-DF51-6C18F8548B10}" v="434" dt="2021-01-28T14:16:19.0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24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9945AD-C4E7-8D4E-B52E-03FA066211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277B07-F9D1-AA40-BBCF-775E74D42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7721D-1176-A640-AC48-B82F78C92D56}" type="datetimeFigureOut">
              <a:rPr lang="en-US" smtClean="0"/>
              <a:t>2/3/2021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529E1-8FBF-B44D-9125-5A6D2BEFA6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4B474-30DF-AA46-8E95-0F42A45520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BAB59-14AE-9844-B034-10FDF6484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965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4A089-FB25-6D46-9D21-F0F04A18BCA8}" type="datetimeFigureOut">
              <a:rPr lang="en-US" smtClean="0"/>
              <a:t>2/3/2021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304BD-78E5-F743-9CDB-4BAC0F2E5A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60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335133-BC66-D740-A8F2-49180671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45912-5042-564C-832E-5F4D1FCB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8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275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37703C61-09E8-4049-8248-F9AB232E14C1}"/>
              </a:ext>
            </a:extLst>
          </p:cNvPr>
          <p:cNvSpPr/>
          <p:nvPr/>
        </p:nvSpPr>
        <p:spPr>
          <a:xfrm>
            <a:off x="898444" y="1848331"/>
            <a:ext cx="7856743" cy="4361778"/>
          </a:xfrm>
          <a:prstGeom prst="rect">
            <a:avLst/>
          </a:prstGeom>
          <a:noFill/>
          <a:ln w="12700">
            <a:solidFill>
              <a:srgbClr val="1E8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>
                <a:ln w="0"/>
                <a:solidFill>
                  <a:srgbClr val="1E89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40B6412-6E5D-B24E-8630-AD02E15A85EC}"/>
              </a:ext>
            </a:extLst>
          </p:cNvPr>
          <p:cNvSpPr/>
          <p:nvPr/>
        </p:nvSpPr>
        <p:spPr>
          <a:xfrm>
            <a:off x="706503" y="341189"/>
            <a:ext cx="9585599" cy="62923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AWS Cloud</a:t>
            </a:r>
            <a:endParaRPr lang="en-US" sz="1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89490AF9-EFA6-8440-9A79-E963D0EE7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504" y="341189"/>
            <a:ext cx="330200" cy="3302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1FB42D1C-3EBE-4F44-AEEF-747AE05020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445" y="1848332"/>
            <a:ext cx="330200" cy="330200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7D0A0466-3950-2848-86E4-CC79DB9813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38154" y="2697742"/>
            <a:ext cx="447802" cy="453531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5E4E5C6C-AAF8-A848-B927-163A8BD32903}"/>
              </a:ext>
            </a:extLst>
          </p:cNvPr>
          <p:cNvSpPr txBox="1"/>
          <p:nvPr/>
        </p:nvSpPr>
        <p:spPr>
          <a:xfrm>
            <a:off x="8617366" y="3171193"/>
            <a:ext cx="1651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Amazon S3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8E8909F-AFA3-4F33-894F-F2CDBAC13AB5}"/>
              </a:ext>
            </a:extLst>
          </p:cNvPr>
          <p:cNvGrpSpPr/>
          <p:nvPr/>
        </p:nvGrpSpPr>
        <p:grpSpPr>
          <a:xfrm>
            <a:off x="6397448" y="415885"/>
            <a:ext cx="1651819" cy="820170"/>
            <a:chOff x="6468869" y="521943"/>
            <a:chExt cx="1651819" cy="820170"/>
          </a:xfrm>
        </p:grpSpPr>
        <p:pic>
          <p:nvPicPr>
            <p:cNvPr id="8" name="Picture 8" descr="Icon&#10;&#10;Description automatically generated">
              <a:extLst>
                <a:ext uri="{FF2B5EF4-FFF2-40B4-BE49-F238E27FC236}">
                  <a16:creationId xmlns:a16="http://schemas.microsoft.com/office/drawing/2014/main" id="{1718D861-5E2F-49D1-9117-988585830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67694" y="521943"/>
              <a:ext cx="457200" cy="445742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14F9E8E-84FF-4AC5-92AC-3718BCF8CA8B}"/>
                </a:ext>
              </a:extLst>
            </p:cNvPr>
            <p:cNvSpPr txBox="1"/>
            <p:nvPr/>
          </p:nvSpPr>
          <p:spPr>
            <a:xfrm>
              <a:off x="6468869" y="1034336"/>
              <a:ext cx="165181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400">
                  <a:latin typeface="Arial"/>
                  <a:cs typeface="Arial"/>
                </a:rPr>
                <a:t>AWS IoT </a:t>
              </a:r>
              <a:r>
                <a:rPr lang="en-US" sz="1400" err="1">
                  <a:latin typeface="Arial"/>
                  <a:cs typeface="Arial"/>
                </a:rPr>
                <a:t>SiteWise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22DF26-5F43-420B-A1C4-4771DEC77867}"/>
              </a:ext>
            </a:extLst>
          </p:cNvPr>
          <p:cNvGrpSpPr/>
          <p:nvPr/>
        </p:nvGrpSpPr>
        <p:grpSpPr>
          <a:xfrm>
            <a:off x="4194206" y="399014"/>
            <a:ext cx="1651819" cy="843088"/>
            <a:chOff x="4217246" y="499024"/>
            <a:chExt cx="1651819" cy="843088"/>
          </a:xfrm>
        </p:grpSpPr>
        <p:pic>
          <p:nvPicPr>
            <p:cNvPr id="12" name="Picture 12" descr="Icon&#10;&#10;Description automatically generated">
              <a:extLst>
                <a:ext uri="{FF2B5EF4-FFF2-40B4-BE49-F238E27FC236}">
                  <a16:creationId xmlns:a16="http://schemas.microsoft.com/office/drawing/2014/main" id="{750E50D9-0768-42E5-9BDB-8B5AA713F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787423" y="499024"/>
              <a:ext cx="457201" cy="468660"/>
            </a:xfrm>
            <a:prstGeom prst="rect">
              <a:avLst/>
            </a:prstGeom>
          </p:spPr>
        </p:pic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E993A83-70A7-4653-9819-E6959AF4A6DC}"/>
                </a:ext>
              </a:extLst>
            </p:cNvPr>
            <p:cNvSpPr txBox="1"/>
            <p:nvPr/>
          </p:nvSpPr>
          <p:spPr>
            <a:xfrm>
              <a:off x="4217246" y="1034335"/>
              <a:ext cx="1651819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400">
                  <a:latin typeface="Arial"/>
                  <a:cs typeface="Arial"/>
                </a:rPr>
                <a:t>AWS IoT Core</a:t>
              </a:r>
            </a:p>
          </p:txBody>
        </p:sp>
      </p:grpSp>
      <p:pic>
        <p:nvPicPr>
          <p:cNvPr id="13" name="Picture 13" descr="Icon&#10;&#10;Description automatically generated">
            <a:extLst>
              <a:ext uri="{FF2B5EF4-FFF2-40B4-BE49-F238E27FC236}">
                <a16:creationId xmlns:a16="http://schemas.microsoft.com/office/drawing/2014/main" id="{EEF3CF64-4A02-483D-AB2D-BAB07F63BC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6190" y="1747833"/>
            <a:ext cx="457202" cy="451473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12002C82-37EC-4259-BA03-2C61D6CD4C4B}"/>
              </a:ext>
            </a:extLst>
          </p:cNvPr>
          <p:cNvSpPr txBox="1"/>
          <p:nvPr/>
        </p:nvSpPr>
        <p:spPr>
          <a:xfrm>
            <a:off x="8617365" y="2220125"/>
            <a:ext cx="165181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Arial"/>
                <a:cs typeface="Arial"/>
              </a:rPr>
              <a:t>AWS Lambda</a:t>
            </a:r>
          </a:p>
        </p:txBody>
      </p:sp>
      <p:pic>
        <p:nvPicPr>
          <p:cNvPr id="14" name="Picture 14" descr="Icon&#10;&#10;Description automatically generated">
            <a:extLst>
              <a:ext uri="{FF2B5EF4-FFF2-40B4-BE49-F238E27FC236}">
                <a16:creationId xmlns:a16="http://schemas.microsoft.com/office/drawing/2014/main" id="{65C93DD9-F2B0-4052-9A07-6D07C0EC526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107" y="5300014"/>
            <a:ext cx="457202" cy="440014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F6EEF975-D566-449C-9698-4071B8C34759}"/>
              </a:ext>
            </a:extLst>
          </p:cNvPr>
          <p:cNvSpPr txBox="1"/>
          <p:nvPr/>
        </p:nvSpPr>
        <p:spPr>
          <a:xfrm>
            <a:off x="8640284" y="5743658"/>
            <a:ext cx="165181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Arial"/>
                <a:cs typeface="Arial"/>
              </a:rPr>
              <a:t>AWS CloudFormation</a:t>
            </a:r>
          </a:p>
        </p:txBody>
      </p:sp>
      <p:pic>
        <p:nvPicPr>
          <p:cNvPr id="15" name="Picture 15" descr="Icon&#10;&#10;Description automatically generated">
            <a:extLst>
              <a:ext uri="{FF2B5EF4-FFF2-40B4-BE49-F238E27FC236}">
                <a16:creationId xmlns:a16="http://schemas.microsoft.com/office/drawing/2014/main" id="{356D8C7C-CD79-47A4-A147-D8478677D4A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108" y="3627051"/>
            <a:ext cx="457202" cy="434285"/>
          </a:xfrm>
          <a:prstGeom prst="rect">
            <a:avLst/>
          </a:prstGeom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C9B070C0-026B-4E54-8A4D-E311BF006EB5}"/>
              </a:ext>
            </a:extLst>
          </p:cNvPr>
          <p:cNvSpPr txBox="1"/>
          <p:nvPr/>
        </p:nvSpPr>
        <p:spPr>
          <a:xfrm>
            <a:off x="8943937" y="4030590"/>
            <a:ext cx="105024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Arial"/>
                <a:cs typeface="Arial"/>
              </a:rPr>
              <a:t>AWS ECS</a:t>
            </a:r>
          </a:p>
        </p:txBody>
      </p:sp>
      <p:pic>
        <p:nvPicPr>
          <p:cNvPr id="16" name="Picture 16" descr="Icon&#10;&#10;Description automatically generated">
            <a:extLst>
              <a:ext uri="{FF2B5EF4-FFF2-40B4-BE49-F238E27FC236}">
                <a16:creationId xmlns:a16="http://schemas.microsoft.com/office/drawing/2014/main" id="{20C0E7A5-4D9A-4076-93AB-02EA258C6D9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9107" y="4452075"/>
            <a:ext cx="457202" cy="422827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A334BC9A-CB84-495E-91DC-331FED02E1BD}"/>
              </a:ext>
            </a:extLst>
          </p:cNvPr>
          <p:cNvSpPr txBox="1"/>
          <p:nvPr/>
        </p:nvSpPr>
        <p:spPr>
          <a:xfrm>
            <a:off x="8955396" y="4878530"/>
            <a:ext cx="1050241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Arial"/>
                <a:cs typeface="Arial"/>
              </a:rPr>
              <a:t>AWS IAM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88979E-BEBF-41E2-BFF6-4FA22A690294}"/>
              </a:ext>
            </a:extLst>
          </p:cNvPr>
          <p:cNvSpPr txBox="1"/>
          <p:nvPr/>
        </p:nvSpPr>
        <p:spPr>
          <a:xfrm>
            <a:off x="1135187" y="856727"/>
            <a:ext cx="866902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latin typeface="Arial"/>
                <a:cs typeface="Arial"/>
              </a:rPr>
              <a:t>Region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CF62F2-14CE-48E8-98D1-19B666C1604B}"/>
              </a:ext>
            </a:extLst>
          </p:cNvPr>
          <p:cNvGrpSpPr/>
          <p:nvPr/>
        </p:nvGrpSpPr>
        <p:grpSpPr>
          <a:xfrm>
            <a:off x="4366938" y="2343455"/>
            <a:ext cx="1203541" cy="887763"/>
            <a:chOff x="4385080" y="2011886"/>
            <a:chExt cx="1203541" cy="887763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F54C109-EA8E-4CC3-B91E-ED9576439A41}"/>
                </a:ext>
              </a:extLst>
            </p:cNvPr>
            <p:cNvSpPr txBox="1"/>
            <p:nvPr/>
          </p:nvSpPr>
          <p:spPr>
            <a:xfrm>
              <a:off x="4385080" y="2499539"/>
              <a:ext cx="1203541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000" dirty="0">
                  <a:latin typeface="Arial"/>
                  <a:cs typeface="Arial"/>
                </a:rPr>
                <a:t>Classic </a:t>
              </a:r>
              <a:br>
                <a:rPr lang="en-US" sz="1000" dirty="0">
                  <a:latin typeface="Arial"/>
                  <a:cs typeface="Arial"/>
                </a:rPr>
              </a:br>
              <a:r>
                <a:rPr lang="en-US" sz="1000" dirty="0">
                  <a:latin typeface="Arial"/>
                  <a:cs typeface="Arial"/>
                </a:rPr>
                <a:t>Load Balancer</a:t>
              </a:r>
              <a:endParaRPr lang="en-US" sz="1000" dirty="0">
                <a:cs typeface="Arial"/>
              </a:endParaRPr>
            </a:p>
          </p:txBody>
        </p:sp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7F95A3EB-B772-40A7-A8D2-BF04A2AB91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788563" y="2011886"/>
              <a:ext cx="435964" cy="44236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4FE70FA-CD90-453C-86C4-5F16AD527FA6}"/>
              </a:ext>
            </a:extLst>
          </p:cNvPr>
          <p:cNvGrpSpPr/>
          <p:nvPr/>
        </p:nvGrpSpPr>
        <p:grpSpPr>
          <a:xfrm>
            <a:off x="4404221" y="4306171"/>
            <a:ext cx="1203541" cy="749228"/>
            <a:chOff x="4415317" y="4067515"/>
            <a:chExt cx="1203541" cy="749228"/>
          </a:xfrm>
        </p:grpSpPr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3CB484D8-BFEB-431F-9E94-C0E245BAC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14279" y="4067515"/>
              <a:ext cx="399668" cy="389052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B5DD8D4-1F1D-4CFA-8173-B76E378F6AF6}"/>
                </a:ext>
              </a:extLst>
            </p:cNvPr>
            <p:cNvSpPr txBox="1"/>
            <p:nvPr/>
          </p:nvSpPr>
          <p:spPr>
            <a:xfrm>
              <a:off x="4415317" y="4416633"/>
              <a:ext cx="1203541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1000" dirty="0">
                  <a:latin typeface="Arial"/>
                  <a:cs typeface="Arial"/>
                </a:rPr>
                <a:t>Auto Scaling Group</a:t>
              </a:r>
              <a:endParaRPr lang="en-US" sz="1000" dirty="0">
                <a:cs typeface="Arial"/>
              </a:endParaRP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1EE01857-225E-7741-A12B-8119C6FD5411}"/>
              </a:ext>
            </a:extLst>
          </p:cNvPr>
          <p:cNvSpPr/>
          <p:nvPr/>
        </p:nvSpPr>
        <p:spPr>
          <a:xfrm>
            <a:off x="1368682" y="2898133"/>
            <a:ext cx="2752390" cy="2998027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 Public subnet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EF801B6A-5039-A74B-9F9A-63AABA56CBE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368681" y="2896399"/>
            <a:ext cx="313390" cy="274186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07D7109E-BEF0-324E-9A5A-67C32AFB3027}"/>
              </a:ext>
            </a:extLst>
          </p:cNvPr>
          <p:cNvSpPr/>
          <p:nvPr/>
        </p:nvSpPr>
        <p:spPr>
          <a:xfrm>
            <a:off x="1288117" y="1505273"/>
            <a:ext cx="2910691" cy="4953457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rgbClr val="007DBC"/>
                </a:solidFill>
                <a:latin typeface="Arial"/>
                <a:cs typeface="Arial"/>
              </a:rPr>
              <a:t>Availability Zone 1</a:t>
            </a:r>
            <a:endParaRPr lang="en-US" sz="1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A0586DE-7DEA-47F6-B147-DA73DB4517C2}"/>
              </a:ext>
            </a:extLst>
          </p:cNvPr>
          <p:cNvGrpSpPr/>
          <p:nvPr/>
        </p:nvGrpSpPr>
        <p:grpSpPr>
          <a:xfrm>
            <a:off x="3203399" y="2986779"/>
            <a:ext cx="817252" cy="540453"/>
            <a:chOff x="2283662" y="2859779"/>
            <a:chExt cx="817252" cy="54045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755BA6A-47A5-CA49-9E9D-545F78B6B1D1}"/>
                </a:ext>
              </a:extLst>
            </p:cNvPr>
            <p:cNvSpPr txBox="1"/>
            <p:nvPr/>
          </p:nvSpPr>
          <p:spPr>
            <a:xfrm>
              <a:off x="2283662" y="3184788"/>
              <a:ext cx="817252" cy="215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NAT gateway</a:t>
              </a:r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868D4A0F-F764-DA46-843A-2F3933B15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554545" y="2859779"/>
              <a:ext cx="331433" cy="327219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6A14819-0638-448A-A7B3-051712F4E913}"/>
              </a:ext>
            </a:extLst>
          </p:cNvPr>
          <p:cNvGrpSpPr/>
          <p:nvPr/>
        </p:nvGrpSpPr>
        <p:grpSpPr>
          <a:xfrm>
            <a:off x="1459911" y="3716564"/>
            <a:ext cx="2576125" cy="2091705"/>
            <a:chOff x="1599006" y="3456517"/>
            <a:chExt cx="2576125" cy="2091705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A8CBAFA-A31D-4916-AC83-D37C128A6511}"/>
                </a:ext>
              </a:extLst>
            </p:cNvPr>
            <p:cNvSpPr/>
            <p:nvPr/>
          </p:nvSpPr>
          <p:spPr>
            <a:xfrm>
              <a:off x="1599359" y="3456903"/>
              <a:ext cx="2575772" cy="20913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800">
                  <a:solidFill>
                    <a:srgbClr val="1E8900"/>
                  </a:solidFill>
                  <a:latin typeface="Arial"/>
                  <a:cs typeface="Arial"/>
                </a:rPr>
                <a:t>EC2 Instance</a:t>
              </a:r>
              <a:endParaRPr lang="en-US">
                <a:solidFill>
                  <a:srgbClr val="FAFAFA"/>
                </a:solidFill>
                <a:latin typeface="Arial"/>
                <a:cs typeface="Arial"/>
              </a:endParaRPr>
            </a:p>
          </p:txBody>
        </p:sp>
        <p:pic>
          <p:nvPicPr>
            <p:cNvPr id="7" name="Picture 7" descr="Icon&#10;&#10;Description automatically generated">
              <a:extLst>
                <a:ext uri="{FF2B5EF4-FFF2-40B4-BE49-F238E27FC236}">
                  <a16:creationId xmlns:a16="http://schemas.microsoft.com/office/drawing/2014/main" id="{75531443-6B9C-49BD-BE6D-11E474A80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599006" y="3456517"/>
              <a:ext cx="279812" cy="28043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78E06A-F4E5-41C2-98B9-D9E315AB6D8A}"/>
              </a:ext>
            </a:extLst>
          </p:cNvPr>
          <p:cNvGrpSpPr/>
          <p:nvPr/>
        </p:nvGrpSpPr>
        <p:grpSpPr>
          <a:xfrm>
            <a:off x="2877346" y="4848926"/>
            <a:ext cx="915053" cy="807907"/>
            <a:chOff x="2980156" y="4667498"/>
            <a:chExt cx="915053" cy="807907"/>
          </a:xfrm>
        </p:grpSpPr>
        <p:pic>
          <p:nvPicPr>
            <p:cNvPr id="2" name="Picture 2" descr="Logo, icon&#10;&#10;Description automatically generated">
              <a:extLst>
                <a:ext uri="{FF2B5EF4-FFF2-40B4-BE49-F238E27FC236}">
                  <a16:creationId xmlns:a16="http://schemas.microsoft.com/office/drawing/2014/main" id="{1A2813FB-AD99-4C1A-AC85-EF35539A1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299388" y="4667498"/>
              <a:ext cx="275299" cy="372661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5C8F334-39C9-4D54-B791-C1AE9679F7C9}"/>
                </a:ext>
              </a:extLst>
            </p:cNvPr>
            <p:cNvSpPr txBox="1"/>
            <p:nvPr/>
          </p:nvSpPr>
          <p:spPr>
            <a:xfrm>
              <a:off x="2980156" y="5013740"/>
              <a:ext cx="91505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AWS IoT </a:t>
              </a:r>
              <a:r>
                <a:rPr lang="en-US" sz="800" dirty="0" err="1">
                  <a:latin typeface="Arial"/>
                  <a:cs typeface="Arial"/>
                </a:rPr>
                <a:t>SiteWise</a:t>
              </a:r>
              <a:r>
                <a:rPr lang="en-US" sz="800" dirty="0">
                  <a:latin typeface="Arial"/>
                  <a:cs typeface="Arial"/>
                </a:rPr>
                <a:t> Connector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58BC993-8397-4FE2-BAE9-8A5684393AD9}"/>
              </a:ext>
            </a:extLst>
          </p:cNvPr>
          <p:cNvSpPr txBox="1"/>
          <p:nvPr/>
        </p:nvSpPr>
        <p:spPr>
          <a:xfrm>
            <a:off x="2478369" y="4761619"/>
            <a:ext cx="601815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800" dirty="0">
                <a:latin typeface="Arial"/>
                <a:cs typeface="Arial"/>
              </a:rPr>
              <a:t>OPC UA</a:t>
            </a:r>
            <a:endParaRPr lang="en-US" sz="800" dirty="0">
              <a:cs typeface="Arial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ADCAD8-B544-4A94-BA53-04751DC74703}"/>
              </a:ext>
            </a:extLst>
          </p:cNvPr>
          <p:cNvGrpSpPr/>
          <p:nvPr/>
        </p:nvGrpSpPr>
        <p:grpSpPr>
          <a:xfrm>
            <a:off x="3094043" y="3785012"/>
            <a:ext cx="915053" cy="730985"/>
            <a:chOff x="3233138" y="3567298"/>
            <a:chExt cx="915053" cy="73098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7A797D6-A142-43D0-B7EE-56E9E8274D6B}"/>
                </a:ext>
              </a:extLst>
            </p:cNvPr>
            <p:cNvSpPr txBox="1"/>
            <p:nvPr/>
          </p:nvSpPr>
          <p:spPr>
            <a:xfrm>
              <a:off x="3233138" y="3959729"/>
              <a:ext cx="915053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AWS IoT Greengrass</a:t>
              </a:r>
            </a:p>
          </p:txBody>
        </p:sp>
        <p:pic>
          <p:nvPicPr>
            <p:cNvPr id="3" name="Picture 3" descr="Icon&#10;&#10;Description automatically generated">
              <a:extLst>
                <a:ext uri="{FF2B5EF4-FFF2-40B4-BE49-F238E27FC236}">
                  <a16:creationId xmlns:a16="http://schemas.microsoft.com/office/drawing/2014/main" id="{D9731324-BD21-4835-90F1-8D847B588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491473" y="3567298"/>
              <a:ext cx="397065" cy="387094"/>
            </a:xfrm>
            <a:prstGeom prst="rect">
              <a:avLst/>
            </a:prstGeom>
          </p:spPr>
        </p:pic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910F636D-C547-4E2B-8863-F1262041F1F7}"/>
              </a:ext>
            </a:extLst>
          </p:cNvPr>
          <p:cNvSpPr/>
          <p:nvPr/>
        </p:nvSpPr>
        <p:spPr>
          <a:xfrm>
            <a:off x="5813681" y="2898132"/>
            <a:ext cx="2752390" cy="2998027"/>
          </a:xfrm>
          <a:prstGeom prst="rect">
            <a:avLst/>
          </a:prstGeom>
          <a:solidFill>
            <a:srgbClr val="1D8900">
              <a:alpha val="9804"/>
            </a:srgbClr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1000" dirty="0">
                <a:solidFill>
                  <a:srgbClr val="1E8900"/>
                </a:solidFill>
                <a:latin typeface="Arial"/>
                <a:cs typeface="Arial"/>
              </a:rPr>
              <a:t>Public subnet        </a:t>
            </a:r>
            <a:endParaRPr lang="en-US" dirty="0"/>
          </a:p>
        </p:txBody>
      </p:sp>
      <p:pic>
        <p:nvPicPr>
          <p:cNvPr id="100" name="Graphic 99">
            <a:extLst>
              <a:ext uri="{FF2B5EF4-FFF2-40B4-BE49-F238E27FC236}">
                <a16:creationId xmlns:a16="http://schemas.microsoft.com/office/drawing/2014/main" id="{BA5863F4-233A-4026-B739-5141A0D453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250870" y="2896398"/>
            <a:ext cx="313390" cy="274186"/>
          </a:xfrm>
          <a:prstGeom prst="rect">
            <a:avLst/>
          </a:prstGeom>
        </p:spPr>
      </p:pic>
      <p:sp>
        <p:nvSpPr>
          <p:cNvPr id="101" name="Rectangle 100">
            <a:extLst>
              <a:ext uri="{FF2B5EF4-FFF2-40B4-BE49-F238E27FC236}">
                <a16:creationId xmlns:a16="http://schemas.microsoft.com/office/drawing/2014/main" id="{CD94CD6F-A111-42EB-882D-05C42EA82F2E}"/>
              </a:ext>
            </a:extLst>
          </p:cNvPr>
          <p:cNvSpPr/>
          <p:nvPr/>
        </p:nvSpPr>
        <p:spPr>
          <a:xfrm>
            <a:off x="5733116" y="1505271"/>
            <a:ext cx="2910691" cy="4953458"/>
          </a:xfrm>
          <a:prstGeom prst="rect">
            <a:avLst/>
          </a:prstGeom>
          <a:noFill/>
          <a:ln w="12700">
            <a:solidFill>
              <a:srgbClr val="007DB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000" dirty="0">
                <a:solidFill>
                  <a:srgbClr val="007DBC"/>
                </a:solidFill>
                <a:latin typeface="Arial"/>
                <a:cs typeface="Arial"/>
              </a:rPr>
              <a:t>Availability Zone 2</a:t>
            </a:r>
            <a:endParaRPr lang="en-US" sz="1000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7738185-DFF3-42FA-BA21-A1D61407222A}"/>
              </a:ext>
            </a:extLst>
          </p:cNvPr>
          <p:cNvGrpSpPr/>
          <p:nvPr/>
        </p:nvGrpSpPr>
        <p:grpSpPr>
          <a:xfrm>
            <a:off x="5903635" y="2986778"/>
            <a:ext cx="817252" cy="540453"/>
            <a:chOff x="2283662" y="2859779"/>
            <a:chExt cx="817252" cy="540453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588D745-800E-43CF-9FAB-C1897655FCDD}"/>
                </a:ext>
              </a:extLst>
            </p:cNvPr>
            <p:cNvSpPr txBox="1"/>
            <p:nvPr/>
          </p:nvSpPr>
          <p:spPr>
            <a:xfrm>
              <a:off x="2283662" y="3184788"/>
              <a:ext cx="817252" cy="21544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NAT gateway</a:t>
              </a:r>
            </a:p>
          </p:txBody>
        </p:sp>
        <p:pic>
          <p:nvPicPr>
            <p:cNvPr id="120" name="Graphic 119">
              <a:extLst>
                <a:ext uri="{FF2B5EF4-FFF2-40B4-BE49-F238E27FC236}">
                  <a16:creationId xmlns:a16="http://schemas.microsoft.com/office/drawing/2014/main" id="{E26E0F66-238F-43C3-AC4D-8109D7098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554545" y="2859779"/>
              <a:ext cx="331433" cy="327219"/>
            </a:xfrm>
            <a:prstGeom prst="rect">
              <a:avLst/>
            </a:prstGeom>
          </p:spPr>
        </p:pic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6EEA516-FC3A-40DE-A8F7-87FF35E77BF9}"/>
              </a:ext>
            </a:extLst>
          </p:cNvPr>
          <p:cNvGrpSpPr/>
          <p:nvPr/>
        </p:nvGrpSpPr>
        <p:grpSpPr>
          <a:xfrm>
            <a:off x="5904910" y="3716563"/>
            <a:ext cx="2576125" cy="2091705"/>
            <a:chOff x="1599006" y="3456517"/>
            <a:chExt cx="2576125" cy="2091705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294FD93-3512-463F-B2EB-C3244BD036AD}"/>
                </a:ext>
              </a:extLst>
            </p:cNvPr>
            <p:cNvSpPr/>
            <p:nvPr/>
          </p:nvSpPr>
          <p:spPr>
            <a:xfrm>
              <a:off x="1599359" y="3456903"/>
              <a:ext cx="2575772" cy="20913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38328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800">
                  <a:solidFill>
                    <a:srgbClr val="1E8900"/>
                  </a:solidFill>
                  <a:latin typeface="Arial"/>
                  <a:cs typeface="Arial"/>
                </a:rPr>
                <a:t>EC2 Instance</a:t>
              </a:r>
              <a:endParaRPr lang="en-US">
                <a:cs typeface="Arial"/>
              </a:endParaRPr>
            </a:p>
          </p:txBody>
        </p:sp>
        <p:pic>
          <p:nvPicPr>
            <p:cNvPr id="118" name="Picture 7" descr="Icon&#10;&#10;Description automatically generated">
              <a:extLst>
                <a:ext uri="{FF2B5EF4-FFF2-40B4-BE49-F238E27FC236}">
                  <a16:creationId xmlns:a16="http://schemas.microsoft.com/office/drawing/2014/main" id="{11042E44-C28B-40C1-8179-C1C757C5A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599006" y="3456517"/>
              <a:ext cx="279812" cy="280434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A67A520-5932-47BF-8069-C84AE94AAAB8}"/>
              </a:ext>
            </a:extLst>
          </p:cNvPr>
          <p:cNvGrpSpPr/>
          <p:nvPr/>
        </p:nvGrpSpPr>
        <p:grpSpPr>
          <a:xfrm>
            <a:off x="7322345" y="4848925"/>
            <a:ext cx="915053" cy="807907"/>
            <a:chOff x="2980156" y="4667498"/>
            <a:chExt cx="915053" cy="807907"/>
          </a:xfrm>
        </p:grpSpPr>
        <p:pic>
          <p:nvPicPr>
            <p:cNvPr id="115" name="Picture 2" descr="Logo, icon&#10;&#10;Description automatically generated">
              <a:extLst>
                <a:ext uri="{FF2B5EF4-FFF2-40B4-BE49-F238E27FC236}">
                  <a16:creationId xmlns:a16="http://schemas.microsoft.com/office/drawing/2014/main" id="{A12FBC68-0095-402B-ACE2-40286C2CB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3299388" y="4667498"/>
              <a:ext cx="275299" cy="372661"/>
            </a:xfrm>
            <a:prstGeom prst="rect">
              <a:avLst/>
            </a:prstGeom>
          </p:spPr>
        </p:pic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A89A6E17-F4EE-4669-A0F2-AF488F13DD8A}"/>
                </a:ext>
              </a:extLst>
            </p:cNvPr>
            <p:cNvSpPr txBox="1"/>
            <p:nvPr/>
          </p:nvSpPr>
          <p:spPr>
            <a:xfrm>
              <a:off x="2980156" y="5013740"/>
              <a:ext cx="915053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AWS IoT </a:t>
              </a:r>
              <a:r>
                <a:rPr lang="en-US" sz="800" dirty="0" err="1">
                  <a:latin typeface="Arial"/>
                  <a:cs typeface="Arial"/>
                </a:rPr>
                <a:t>SiteWise</a:t>
              </a:r>
              <a:r>
                <a:rPr lang="en-US" sz="800" dirty="0">
                  <a:latin typeface="Arial"/>
                  <a:cs typeface="Arial"/>
                </a:rPr>
                <a:t> Connector</a:t>
              </a: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9158DC98-2121-434F-B416-6804F5BC3F13}"/>
              </a:ext>
            </a:extLst>
          </p:cNvPr>
          <p:cNvSpPr txBox="1"/>
          <p:nvPr/>
        </p:nvSpPr>
        <p:spPr>
          <a:xfrm>
            <a:off x="6923368" y="4761618"/>
            <a:ext cx="601815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800" dirty="0">
                <a:latin typeface="Arial"/>
                <a:cs typeface="Arial"/>
              </a:rPr>
              <a:t>OPC UA</a:t>
            </a:r>
            <a:endParaRPr lang="en-US" sz="800" dirty="0">
              <a:cs typeface="Arial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FC12D8E-F7A0-4E79-9E0C-BDDE13A3882B}"/>
              </a:ext>
            </a:extLst>
          </p:cNvPr>
          <p:cNvGrpSpPr/>
          <p:nvPr/>
        </p:nvGrpSpPr>
        <p:grpSpPr>
          <a:xfrm>
            <a:off x="7539042" y="3785011"/>
            <a:ext cx="915053" cy="730985"/>
            <a:chOff x="3233138" y="3567298"/>
            <a:chExt cx="915053" cy="730985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EA3A29A-F19E-4FF0-AFB3-84EB75A763D2}"/>
                </a:ext>
              </a:extLst>
            </p:cNvPr>
            <p:cNvSpPr txBox="1"/>
            <p:nvPr/>
          </p:nvSpPr>
          <p:spPr>
            <a:xfrm>
              <a:off x="3233138" y="3959729"/>
              <a:ext cx="915053" cy="338554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dirty="0">
                  <a:latin typeface="Arial"/>
                  <a:cs typeface="Arial"/>
                </a:rPr>
                <a:t>AWS IoT Greengrass</a:t>
              </a:r>
            </a:p>
          </p:txBody>
        </p:sp>
        <p:pic>
          <p:nvPicPr>
            <p:cNvPr id="111" name="Picture 3" descr="Icon&#10;&#10;Description automatically generated">
              <a:extLst>
                <a:ext uri="{FF2B5EF4-FFF2-40B4-BE49-F238E27FC236}">
                  <a16:creationId xmlns:a16="http://schemas.microsoft.com/office/drawing/2014/main" id="{DCBBC3A1-7299-4857-9FAD-557F5D442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3491473" y="3567298"/>
              <a:ext cx="397065" cy="387094"/>
            </a:xfrm>
            <a:prstGeom prst="rect">
              <a:avLst/>
            </a:prstGeom>
          </p:spPr>
        </p:pic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AF6C5F2-1EAC-4B72-9C95-67B5E85B52D9}"/>
              </a:ext>
            </a:extLst>
          </p:cNvPr>
          <p:cNvSpPr/>
          <p:nvPr/>
        </p:nvSpPr>
        <p:spPr>
          <a:xfrm>
            <a:off x="1365986" y="3579606"/>
            <a:ext cx="7199201" cy="2317496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000" dirty="0">
              <a:solidFill>
                <a:srgbClr val="007DBC"/>
              </a:solidFill>
              <a:cs typeface="Arial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01F258C-EB34-4F95-AAA2-CDEDB949383A}"/>
              </a:ext>
            </a:extLst>
          </p:cNvPr>
          <p:cNvGrpSpPr/>
          <p:nvPr/>
        </p:nvGrpSpPr>
        <p:grpSpPr>
          <a:xfrm>
            <a:off x="1398626" y="4539561"/>
            <a:ext cx="1247228" cy="1072714"/>
            <a:chOff x="1398626" y="4577346"/>
            <a:chExt cx="1247228" cy="1072714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3A7CEB2-7515-104B-A313-63BC9587BB83}"/>
                </a:ext>
              </a:extLst>
            </p:cNvPr>
            <p:cNvSpPr txBox="1"/>
            <p:nvPr/>
          </p:nvSpPr>
          <p:spPr>
            <a:xfrm>
              <a:off x="1398626" y="5188395"/>
              <a:ext cx="124722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err="1">
                  <a:latin typeface="Arial"/>
                  <a:cs typeface="Arial"/>
                </a:rPr>
                <a:t>Softing</a:t>
              </a:r>
              <a:r>
                <a:rPr lang="en-US" sz="800" dirty="0">
                  <a:latin typeface="Arial"/>
                  <a:cs typeface="Arial"/>
                </a:rPr>
                <a:t> </a:t>
              </a:r>
              <a:r>
                <a:rPr lang="en-US" sz="800" err="1">
                  <a:latin typeface="Arial"/>
                  <a:cs typeface="Arial"/>
                </a:rPr>
                <a:t>edgeConnector</a:t>
              </a:r>
              <a:r>
                <a:rPr lang="en-US" sz="800" dirty="0">
                  <a:latin typeface="Arial"/>
                  <a:cs typeface="Arial"/>
                </a:rPr>
                <a:t> Siemens </a:t>
              </a:r>
              <a:br>
                <a:rPr lang="en-US" sz="800" dirty="0">
                  <a:latin typeface="Arial"/>
                  <a:cs typeface="Arial"/>
                </a:rPr>
              </a:br>
              <a:r>
                <a:rPr lang="en-US" sz="800">
                  <a:latin typeface="Arial"/>
                  <a:cs typeface="Arial"/>
                </a:rPr>
                <a:t>(Simulation Mode)</a:t>
              </a:r>
              <a:endParaRPr lang="en-US" sz="800" dirty="0">
                <a:cs typeface="Arial"/>
              </a:endParaRPr>
            </a:p>
          </p:txBody>
        </p:sp>
        <p:pic>
          <p:nvPicPr>
            <p:cNvPr id="32" name="Picture 32">
              <a:extLst>
                <a:ext uri="{FF2B5EF4-FFF2-40B4-BE49-F238E27FC236}">
                  <a16:creationId xmlns:a16="http://schemas.microsoft.com/office/drawing/2014/main" id="{337FE6BC-D8F9-4153-B6C7-100DF0AE6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594533" y="4577346"/>
              <a:ext cx="853944" cy="612763"/>
            </a:xfrm>
            <a:prstGeom prst="rect">
              <a:avLst/>
            </a:prstGeom>
          </p:spPr>
        </p:pic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7B907A2-CC6E-4E3B-BA32-9C13326544BD}"/>
              </a:ext>
            </a:extLst>
          </p:cNvPr>
          <p:cNvGrpSpPr/>
          <p:nvPr/>
        </p:nvGrpSpPr>
        <p:grpSpPr>
          <a:xfrm>
            <a:off x="5857269" y="4514370"/>
            <a:ext cx="1247228" cy="1072714"/>
            <a:chOff x="1398626" y="4577346"/>
            <a:chExt cx="1247228" cy="1072714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9E7FDC07-0DF1-4836-BFE5-0ECBFDC64610}"/>
                </a:ext>
              </a:extLst>
            </p:cNvPr>
            <p:cNvSpPr txBox="1"/>
            <p:nvPr/>
          </p:nvSpPr>
          <p:spPr>
            <a:xfrm>
              <a:off x="1398626" y="5188395"/>
              <a:ext cx="124722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sz="800" err="1">
                  <a:latin typeface="Arial"/>
                  <a:cs typeface="Arial"/>
                </a:rPr>
                <a:t>Softing</a:t>
              </a:r>
              <a:r>
                <a:rPr lang="en-US" sz="800" dirty="0">
                  <a:latin typeface="Arial"/>
                  <a:cs typeface="Arial"/>
                </a:rPr>
                <a:t> </a:t>
              </a:r>
              <a:r>
                <a:rPr lang="en-US" sz="800" err="1">
                  <a:latin typeface="Arial"/>
                  <a:cs typeface="Arial"/>
                </a:rPr>
                <a:t>edgeConnector</a:t>
              </a:r>
              <a:r>
                <a:rPr lang="en-US" sz="800" dirty="0">
                  <a:latin typeface="Arial"/>
                  <a:cs typeface="Arial"/>
                </a:rPr>
                <a:t> </a:t>
              </a:r>
              <a:r>
                <a:rPr lang="en-US" sz="800">
                  <a:latin typeface="Arial"/>
                  <a:cs typeface="Arial"/>
                </a:rPr>
                <a:t>Siemens </a:t>
              </a:r>
              <a:br>
                <a:rPr lang="en-US" sz="800" dirty="0">
                  <a:latin typeface="Arial"/>
                  <a:cs typeface="Arial"/>
                </a:rPr>
              </a:br>
              <a:r>
                <a:rPr lang="en-US" sz="800">
                  <a:latin typeface="Arial"/>
                  <a:cs typeface="Arial"/>
                </a:rPr>
                <a:t>(Simulation Mode)</a:t>
              </a:r>
              <a:endParaRPr lang="en-US" sz="800" dirty="0">
                <a:cs typeface="Arial"/>
              </a:endParaRPr>
            </a:p>
          </p:txBody>
        </p:sp>
        <p:pic>
          <p:nvPicPr>
            <p:cNvPr id="127" name="Picture 32">
              <a:extLst>
                <a:ext uri="{FF2B5EF4-FFF2-40B4-BE49-F238E27FC236}">
                  <a16:creationId xmlns:a16="http://schemas.microsoft.com/office/drawing/2014/main" id="{6FFDA06E-58BE-4EA2-AF65-7A9C234CB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594533" y="4577346"/>
              <a:ext cx="853944" cy="612763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24CF3F-86D3-4192-BEB2-0C3769B9FFF1}"/>
              </a:ext>
            </a:extLst>
          </p:cNvPr>
          <p:cNvCxnSpPr/>
          <p:nvPr/>
        </p:nvCxnSpPr>
        <p:spPr>
          <a:xfrm>
            <a:off x="4977560" y="1233685"/>
            <a:ext cx="7558" cy="977375"/>
          </a:xfrm>
          <a:prstGeom prst="straightConnector1">
            <a:avLst/>
          </a:prstGeom>
          <a:ln w="12700">
            <a:solidFill>
              <a:srgbClr val="545B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361AAE7-E8AD-44FE-9943-885D2324BF15}"/>
              </a:ext>
            </a:extLst>
          </p:cNvPr>
          <p:cNvCxnSpPr>
            <a:cxnSpLocks/>
          </p:cNvCxnSpPr>
          <p:nvPr/>
        </p:nvCxnSpPr>
        <p:spPr>
          <a:xfrm flipV="1">
            <a:off x="7840964" y="4495091"/>
            <a:ext cx="177590" cy="42067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7859E76-E85B-49D8-84C9-35AECD6F10DA}"/>
              </a:ext>
            </a:extLst>
          </p:cNvPr>
          <p:cNvCxnSpPr>
            <a:cxnSpLocks/>
          </p:cNvCxnSpPr>
          <p:nvPr/>
        </p:nvCxnSpPr>
        <p:spPr>
          <a:xfrm flipV="1">
            <a:off x="2557343" y="5049272"/>
            <a:ext cx="492466" cy="503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9D04133-99F1-4859-B5B7-1272747E90A6}"/>
              </a:ext>
            </a:extLst>
          </p:cNvPr>
          <p:cNvCxnSpPr>
            <a:cxnSpLocks/>
          </p:cNvCxnSpPr>
          <p:nvPr/>
        </p:nvCxnSpPr>
        <p:spPr>
          <a:xfrm flipV="1">
            <a:off x="7009689" y="5049271"/>
            <a:ext cx="492466" cy="5038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29A2E1-F1D6-49B9-AF0E-2568445725E1}"/>
              </a:ext>
            </a:extLst>
          </p:cNvPr>
          <p:cNvCxnSpPr/>
          <p:nvPr/>
        </p:nvCxnSpPr>
        <p:spPr>
          <a:xfrm>
            <a:off x="5162550" y="2772641"/>
            <a:ext cx="914400" cy="914400"/>
          </a:xfrm>
          <a:prstGeom prst="straightConnector1">
            <a:avLst/>
          </a:prstGeom>
          <a:ln w="12700">
            <a:solidFill>
              <a:srgbClr val="545B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0902662-A1BD-4BDC-A246-18095DD81CE7}"/>
              </a:ext>
            </a:extLst>
          </p:cNvPr>
          <p:cNvCxnSpPr>
            <a:cxnSpLocks/>
          </p:cNvCxnSpPr>
          <p:nvPr/>
        </p:nvCxnSpPr>
        <p:spPr>
          <a:xfrm flipH="1">
            <a:off x="3866520" y="2772640"/>
            <a:ext cx="924475" cy="920698"/>
          </a:xfrm>
          <a:prstGeom prst="straightConnector1">
            <a:avLst/>
          </a:prstGeom>
          <a:ln w="12700">
            <a:solidFill>
              <a:srgbClr val="545B6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F93CB4-9A1A-49EB-874E-03E5472CBA1A}"/>
              </a:ext>
            </a:extLst>
          </p:cNvPr>
          <p:cNvCxnSpPr/>
          <p:nvPr/>
        </p:nvCxnSpPr>
        <p:spPr>
          <a:xfrm>
            <a:off x="5456565" y="629516"/>
            <a:ext cx="1260763" cy="1260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4959915-0724-4831-8CE4-0466AFAD6F55}"/>
              </a:ext>
            </a:extLst>
          </p:cNvPr>
          <p:cNvCxnSpPr>
            <a:cxnSpLocks/>
          </p:cNvCxnSpPr>
          <p:nvPr/>
        </p:nvCxnSpPr>
        <p:spPr>
          <a:xfrm flipV="1">
            <a:off x="3401211" y="4495091"/>
            <a:ext cx="177590" cy="420674"/>
          </a:xfrm>
          <a:prstGeom prst="straightConnector1">
            <a:avLst/>
          </a:prstGeom>
          <a:ln w="12700">
            <a:solidFill>
              <a:srgbClr val="545B64"/>
            </a:solidFill>
            <a:headEnd type="none"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749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AWS Colors">
      <a:dk1>
        <a:srgbClr val="232F3D"/>
      </a:dk1>
      <a:lt1>
        <a:srgbClr val="FAFAFA"/>
      </a:lt1>
      <a:dk2>
        <a:srgbClr val="535B63"/>
      </a:dk2>
      <a:lt2>
        <a:srgbClr val="E5ECEF"/>
      </a:lt2>
      <a:accent1>
        <a:srgbClr val="FF9900"/>
      </a:accent1>
      <a:accent2>
        <a:srgbClr val="F0623D"/>
      </a:accent2>
      <a:accent3>
        <a:srgbClr val="007CBC"/>
      </a:accent3>
      <a:accent4>
        <a:srgbClr val="00A0C8"/>
      </a:accent4>
      <a:accent5>
        <a:srgbClr val="1D8900"/>
      </a:accent5>
      <a:accent6>
        <a:srgbClr val="69AE35"/>
      </a:accent6>
      <a:hlink>
        <a:srgbClr val="007CBC"/>
      </a:hlink>
      <a:folHlink>
        <a:srgbClr val="007C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2"/>
          </a:solidFill>
        </a:ln>
      </a:spPr>
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545B64"/>
          </a:solidFill>
          <a:headEnd type="none" w="med" len="sm"/>
          <a:tailEnd type="none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2_Office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revision>239</cp:revision>
  <cp:lastPrinted>2019-01-03T20:59:05Z</cp:lastPrinted>
  <dcterms:created xsi:type="dcterms:W3CDTF">2018-09-14T20:21:45Z</dcterms:created>
  <dcterms:modified xsi:type="dcterms:W3CDTF">2021-02-03T08:24:23Z</dcterms:modified>
</cp:coreProperties>
</file>